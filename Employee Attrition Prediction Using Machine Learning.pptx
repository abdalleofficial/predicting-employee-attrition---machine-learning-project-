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75" r:id="rId13"/>
    <p:sldId id="276" r:id="rId14"/>
    <p:sldId id="277" r:id="rId15"/>
    <p:sldId id="278" r:id="rId16"/>
    <p:sldId id="271" r:id="rId17"/>
    <p:sldId id="265" r:id="rId18"/>
    <p:sldId id="266" r:id="rId19"/>
    <p:sldId id="272" r:id="rId20"/>
    <p:sldId id="267" r:id="rId21"/>
    <p:sldId id="268" r:id="rId22"/>
    <p:sldId id="270" r:id="rId23"/>
    <p:sldId id="2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-4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7.png"/><Relationship Id="rId7" Type="http://schemas.openxmlformats.org/officeDocument/2006/relationships/image" Target="../media/image140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5" Type="http://schemas.openxmlformats.org/officeDocument/2006/relationships/image" Target="../media/image91.png"/><Relationship Id="rId4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i Technology Background Images, HD Pictures and Wallpaper For Free  Download | Pngtree">
            <a:extLst>
              <a:ext uri="{FF2B5EF4-FFF2-40B4-BE49-F238E27FC236}">
                <a16:creationId xmlns:a16="http://schemas.microsoft.com/office/drawing/2014/main" id="{2A83ECB8-3DCC-F00C-4CFB-BD67367A9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22314"/>
            <a:ext cx="12300155" cy="696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4228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>
                  <a:alpha val="8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111827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956" y="797038"/>
            <a:ext cx="685782" cy="5204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81150" y="1695449"/>
            <a:ext cx="8229394" cy="21431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2080"/>
              </a:spcAft>
            </a:pPr>
            <a:r>
              <a:rPr sz="3588" b="1" dirty="0">
                <a:solidFill>
                  <a:srgbClr val="FFFFFF"/>
                </a:solidFill>
                <a:latin typeface="Montserrat"/>
              </a:rPr>
              <a:t> Employee Attrition Prediction</a:t>
            </a:r>
            <a:r>
              <a:rPr sz="1104" dirty="0"/>
              <a:t>
</a:t>
            </a:r>
            <a:r>
              <a:rPr sz="3588" b="1" dirty="0">
                <a:solidFill>
                  <a:srgbClr val="FFFFFF"/>
                </a:solidFill>
                <a:latin typeface="Montserrat"/>
              </a:rPr>
              <a:t>Using Machine Learning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262" y="4143375"/>
            <a:ext cx="1219169" cy="57150"/>
          </a:xfrm>
          <a:prstGeom prst="roundRect">
            <a:avLst>
              <a:gd name="adj" fmla="val 33330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26997" y="4554516"/>
            <a:ext cx="3337709" cy="35881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0" dirty="0">
                <a:solidFill>
                  <a:srgbClr val="DBEAFE"/>
                </a:solidFill>
                <a:latin typeface="Roboto"/>
              </a:rPr>
              <a:t> Submitted By: </a:t>
            </a:r>
            <a:r>
              <a:rPr lang="en-US" sz="1435" b="1" dirty="0">
                <a:solidFill>
                  <a:srgbClr val="FFFFFF"/>
                </a:solidFill>
                <a:latin typeface="Roboto"/>
              </a:rPr>
              <a:t>Abdillahi Mahdi Ibrahim</a:t>
            </a:r>
            <a:endParaRPr sz="1435" b="0" dirty="0">
              <a:solidFill>
                <a:srgbClr val="DBEAFE"/>
              </a:solidFill>
              <a:latin typeface="Robo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5701" y="5080720"/>
            <a:ext cx="3040598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rgbClr val="D1D5DB"/>
                </a:solidFill>
                <a:latin typeface="Roboto"/>
              </a:rPr>
              <a:t>Galgotias University</a:t>
            </a:r>
            <a:endParaRPr sz="1600" b="0" dirty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24301" y="5876925"/>
            <a:ext cx="235261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</a:rPr>
              <a:t>Academic Year: 2025–2026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5995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251453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066799"/>
            <a:ext cx="4209944" cy="525780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887236" y="3563619"/>
            <a:ext cx="5257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509" y="1956196"/>
            <a:ext cx="380990" cy="2024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892" y="1714500"/>
            <a:ext cx="2876478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E293B"/>
                </a:solidFill>
                <a:latin typeface="Montserrat"/>
              </a:rPr>
              <a:t>What is Employee Attrition?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73" y="2628900"/>
            <a:ext cx="3371765" cy="11144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4155"/>
                </a:solidFill>
                <a:latin typeface="Roboto"/>
              </a:rPr>
              <a:t>Employees leaving an organization voluntarily or involuntarily.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6773" y="4057650"/>
            <a:ext cx="3371765" cy="1619250"/>
          </a:xfrm>
          <a:prstGeom prst="roundRect">
            <a:avLst>
              <a:gd name="adj" fmla="val 14117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892" y="4344642"/>
            <a:ext cx="266693" cy="226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85882" y="4286250"/>
            <a:ext cx="251453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E40AF"/>
                </a:solidFill>
                <a:latin typeface="Montserrat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5882" y="4629150"/>
            <a:ext cx="2514537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4155"/>
                </a:solidFill>
                <a:latin typeface="Roboto"/>
              </a:rPr>
              <a:t>Identify employees likely to leave using </a:t>
            </a:r>
            <a:r>
              <a:rPr sz="1196" b="1">
                <a:solidFill>
                  <a:srgbClr val="2563EB"/>
                </a:solidFill>
                <a:latin typeface="Roboto"/>
              </a:rPr>
              <a:t>Machine Learning</a:t>
            </a:r>
            <a:r>
              <a:rPr sz="1196" b="0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718" y="1543050"/>
            <a:ext cx="6305392" cy="4305300"/>
          </a:xfrm>
          <a:prstGeom prst="roundRect">
            <a:avLst>
              <a:gd name="adj" fmla="val 707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256148" y="3563620"/>
            <a:ext cx="43053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906" y="1961257"/>
            <a:ext cx="380990" cy="30658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33906" y="2609850"/>
            <a:ext cx="2619309" cy="1314450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2025" y="2891936"/>
            <a:ext cx="304792" cy="2168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29214" y="2847974"/>
            <a:ext cx="168588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Increased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214" y="3152775"/>
            <a:ext cx="168588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Recruitment &amp;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81810" y="2609850"/>
            <a:ext cx="2619309" cy="1314450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9929" y="2893401"/>
            <a:ext cx="304792" cy="21394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77118" y="2847974"/>
            <a:ext cx="1685882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Reduced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7118" y="3419474"/>
            <a:ext cx="168588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Lower team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33906" y="4152899"/>
            <a:ext cx="2619309" cy="1314450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72025" y="4426194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29214" y="4391025"/>
            <a:ext cx="1685882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Loss of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214" y="4962525"/>
            <a:ext cx="168588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Knowledge drain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81810" y="4152899"/>
            <a:ext cx="2619309" cy="13144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19929" y="4426194"/>
            <a:ext cx="304792" cy="23446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77118" y="4391025"/>
            <a:ext cx="16192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ML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7118" y="4695824"/>
            <a:ext cx="16192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Predict turnover early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65866"/>
            <a:ext cx="342891" cy="277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391467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990599"/>
            <a:ext cx="5295767" cy="5410199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660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1398204"/>
            <a:ext cx="342891" cy="2896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377" y="2019299"/>
            <a:ext cx="4686182" cy="571500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694667" y="22390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872" y="220068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23961" y="2171700"/>
            <a:ext cx="22668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E293B"/>
                </a:solidFill>
                <a:latin typeface="Roboto"/>
              </a:rPr>
              <a:t>Increased Hiring Expenses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77" y="2781300"/>
            <a:ext cx="4686182" cy="571500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694667" y="300101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872" y="2952542"/>
            <a:ext cx="266693" cy="2290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3961" y="2933699"/>
            <a:ext cx="22287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E293B"/>
                </a:solidFill>
                <a:latin typeface="Roboto"/>
              </a:rPr>
              <a:t>Loss of Skilled Employees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77" y="3543300"/>
            <a:ext cx="4686182" cy="571500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694667" y="376301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872" y="3756577"/>
            <a:ext cx="266693" cy="1449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23961" y="3695699"/>
            <a:ext cx="241928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E293B"/>
                </a:solidFill>
                <a:latin typeface="Roboto"/>
              </a:rPr>
              <a:t>Reduced Team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77" y="4305300"/>
            <a:ext cx="4686182" cy="571500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694667" y="452501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4872" y="4486689"/>
            <a:ext cx="266693" cy="2087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23961" y="4457700"/>
            <a:ext cx="17049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E293B"/>
                </a:solidFill>
                <a:latin typeface="Roboto"/>
              </a:rPr>
              <a:t>Business Disruption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342" y="1276350"/>
            <a:ext cx="5295767" cy="4829175"/>
          </a:xfrm>
          <a:prstGeom prst="roundRect">
            <a:avLst>
              <a:gd name="adj" fmla="val 6311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7333" y="1693444"/>
            <a:ext cx="457188" cy="38501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76918" y="1714500"/>
            <a:ext cx="27526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Proposed 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3" y="2419349"/>
            <a:ext cx="4533786" cy="205740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5452" y="2667000"/>
            <a:ext cx="4057548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>
                <a:solidFill>
                  <a:srgbClr val="FFFFFF"/>
                </a:solidFill>
                <a:latin typeface="Roboto"/>
              </a:rPr>
              <a:t> Develop a </a:t>
            </a:r>
            <a:r>
              <a:rPr sz="1435" b="1">
                <a:solidFill>
                  <a:srgbClr val="BFDBFE"/>
                </a:solidFill>
                <a:latin typeface="Roboto"/>
              </a:rPr>
              <a:t>Machine Learning Model</a:t>
            </a:r>
            <a:r>
              <a:rPr sz="1435" b="0">
                <a:solidFill>
                  <a:srgbClr val="FFFFFF"/>
                </a:solidFill>
                <a:latin typeface="Roboto"/>
              </a:rPr>
              <a:t> to predict employee attrition.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5452" y="3752849"/>
            <a:ext cx="38099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95947" y="3714750"/>
            <a:ext cx="18382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BEAFE"/>
                </a:solidFill>
                <a:latin typeface="Roboto"/>
              </a:rPr>
              <a:t>Identify Risk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947" y="3981449"/>
            <a:ext cx="18382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BEAFE"/>
                </a:solidFill>
                <a:latin typeface="Roboto"/>
              </a:rPr>
              <a:t>Take Proactive Action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67533" y="4845194"/>
            <a:ext cx="533386" cy="40611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53216" y="5467349"/>
            <a:ext cx="11524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Data-Driven 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7690"/>
            <a:ext cx="342891" cy="2542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365750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23999"/>
            <a:ext cx="5333866" cy="12573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113014" y="2020569"/>
            <a:ext cx="12573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0575" y="18288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71" y="2016369"/>
            <a:ext cx="304792" cy="2344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754" y="1828800"/>
            <a:ext cx="380990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Analyze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54" y="2209800"/>
            <a:ext cx="38099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Examine employee data patterns and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243" y="1523999"/>
            <a:ext cx="5333866" cy="12573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5751673" y="2020569"/>
            <a:ext cx="12573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29234" y="18288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1630" y="2019299"/>
            <a:ext cx="304792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67413" y="1828800"/>
            <a:ext cx="380990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Identify Factors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413" y="2209800"/>
            <a:ext cx="38099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Discover key drivers affecting attrition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086100"/>
            <a:ext cx="5333866" cy="12573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113014" y="3582670"/>
            <a:ext cx="12573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0575" y="33908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2971" y="3565280"/>
            <a:ext cx="304792" cy="2608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754" y="3390899"/>
            <a:ext cx="380990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Build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754" y="3771900"/>
            <a:ext cx="38099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Develop predictive machine learning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243" y="3086100"/>
            <a:ext cx="5333866" cy="12573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751673" y="3582670"/>
            <a:ext cx="12573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29234" y="33908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1630" y="3613638"/>
            <a:ext cx="304792" cy="1641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67413" y="3390899"/>
            <a:ext cx="380990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Improve Retention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413" y="3771900"/>
            <a:ext cx="38099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Enhance employee retention strategies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4648200"/>
            <a:ext cx="10972525" cy="1219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563EB"/>
              </a:gs>
              <a:gs pos="100000">
                <a:srgbClr val="0891B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377" y="49529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6773" y="5140569"/>
            <a:ext cx="304792" cy="23446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52556" y="4952999"/>
            <a:ext cx="952476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Support HR Decision-Making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2556" y="5295899"/>
            <a:ext cx="952476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Roboto"/>
              </a:rPr>
              <a:t>Provide data-driven insights for proactive HR interventions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402897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Dataset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990599"/>
            <a:ext cx="7114997" cy="5410199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963435" y="3563618"/>
            <a:ext cx="54101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0575" y="13144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921" y="1485485"/>
            <a:ext cx="266693" cy="19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76358" y="1295399"/>
            <a:ext cx="457188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Employee Attrition Prediction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358" y="1600200"/>
            <a:ext cx="45718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Source: Kaggle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75" y="2095499"/>
            <a:ext cx="642921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334155"/>
                </a:solidFill>
                <a:latin typeface="Montserrat"/>
              </a:rPr>
              <a:t>Features Include: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575" y="2514600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8259" y="2646997"/>
            <a:ext cx="228594" cy="211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4397" y="2933699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8834" y="2514600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6993" y="265557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52656" y="2933699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Gender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7568" y="2514600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252" y="2664142"/>
            <a:ext cx="228594" cy="177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81390" y="2933699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Department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5827" y="2514600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3511" y="2659856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19649" y="2933699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Job 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575" y="3400425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38259" y="3555682"/>
            <a:ext cx="228594" cy="1657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4397" y="3819524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Monthly Income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28834" y="3400425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66993" y="35413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52656" y="3819524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Years at Company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7568" y="3400425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5252" y="35413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381390" y="3819524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Job Satisfaction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5827" y="3400425"/>
            <a:ext cx="1523961" cy="771525"/>
          </a:xfrm>
          <a:prstGeom prst="roundRect">
            <a:avLst>
              <a:gd name="adj" fmla="val 19753"/>
            </a:avLst>
          </a:prstGeom>
          <a:solidFill>
            <a:srgbClr val="EFF6FF"/>
          </a:solidFill>
          <a:ln w="825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43511" y="3581400"/>
            <a:ext cx="228594" cy="114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19649" y="3819524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D4ED8"/>
                </a:solidFill>
                <a:latin typeface="Roboto"/>
              </a:rPr>
              <a:t>Attrition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9374" y="1409699"/>
            <a:ext cx="3552736" cy="4572000"/>
          </a:xfrm>
          <a:prstGeom prst="roundRect">
            <a:avLst>
              <a:gd name="adj" fmla="val 8579"/>
            </a:avLst>
          </a:prstGeom>
          <a:gradFill rotWithShape="1">
            <a:gsLst>
              <a:gs pos="0">
                <a:srgbClr val="1D4ED8"/>
              </a:gs>
              <a:gs pos="100000">
                <a:srgbClr val="1E3A8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419989" y="1885950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610484" y="2101750"/>
            <a:ext cx="380990" cy="33039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34166" y="2952750"/>
            <a:ext cx="294315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0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Target Variable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4166" y="3562349"/>
            <a:ext cx="2943151" cy="895350"/>
          </a:xfrm>
          <a:prstGeom prst="roundRect">
            <a:avLst>
              <a:gd name="adj" fmla="val 255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534186" y="3881071"/>
            <a:ext cx="304792" cy="2579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953276" y="3762374"/>
            <a:ext cx="10762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Roboto"/>
              </a:rP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276" y="4029075"/>
            <a:ext cx="107629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FDBFE"/>
                </a:solidFill>
                <a:latin typeface="Roboto"/>
              </a:rPr>
              <a:t>Employee Stays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34166" y="4610099"/>
            <a:ext cx="2943151" cy="895350"/>
          </a:xfrm>
          <a:prstGeom prst="roundRect">
            <a:avLst>
              <a:gd name="adj" fmla="val 255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534186" y="4928821"/>
            <a:ext cx="304792" cy="2579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953276" y="4810124"/>
            <a:ext cx="118107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Roboto"/>
              </a:rPr>
              <a:t>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53276" y="5076825"/>
            <a:ext cx="118107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FDBFE"/>
                </a:solidFill>
                <a:latin typeface="Roboto"/>
              </a:rPr>
              <a:t>Employee Leaves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13162"/>
            <a:ext cx="342891" cy="1832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353368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990599"/>
            <a:ext cx="3457488" cy="5410199"/>
          </a:xfrm>
          <a:prstGeom prst="roundRect">
            <a:avLst>
              <a:gd name="adj" fmla="val 8815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377" y="27908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2974427"/>
            <a:ext cx="342891" cy="2423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76358" y="2943225"/>
            <a:ext cx="166683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377" y="3629025"/>
            <a:ext cx="2847903" cy="971550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496" y="3984380"/>
            <a:ext cx="304792" cy="2608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9684" y="3867149"/>
            <a:ext cx="101914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684" y="4133849"/>
            <a:ext cx="101914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BEAFE"/>
                </a:solidFill>
                <a:latin typeface="Roboto"/>
              </a:rPr>
              <a:t>Core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1865" y="990599"/>
            <a:ext cx="3457488" cy="5410199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1798846" y="3563618"/>
            <a:ext cx="54101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2856" y="12953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6202" y="1455354"/>
            <a:ext cx="342891" cy="2896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14837" y="1447800"/>
            <a:ext cx="102867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Libraries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2856" y="2133599"/>
            <a:ext cx="2771705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678" y="2302192"/>
            <a:ext cx="228594" cy="177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19569" y="2257425"/>
            <a:ext cx="5714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Pandas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2856" y="2762249"/>
            <a:ext cx="2771705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6678" y="2936557"/>
            <a:ext cx="228594" cy="1657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19569" y="2886075"/>
            <a:ext cx="56196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NumPy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856" y="3390899"/>
            <a:ext cx="2771705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6678" y="3576637"/>
            <a:ext cx="228594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19569" y="3514725"/>
            <a:ext cx="7810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Matplotlib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2856" y="4019549"/>
            <a:ext cx="2771705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76678" y="4208145"/>
            <a:ext cx="228594" cy="13715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19569" y="4143375"/>
            <a:ext cx="6381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Seaborn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2856" y="4648200"/>
            <a:ext cx="2771705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76678" y="4816792"/>
            <a:ext cx="228594" cy="177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219569" y="4772025"/>
            <a:ext cx="91437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Scikit-Learn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4621" y="990599"/>
            <a:ext cx="3457488" cy="5410199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551602" y="3563618"/>
            <a:ext cx="54101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505612" y="12953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638959" y="1462744"/>
            <a:ext cx="342891" cy="27491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67593" y="1447800"/>
            <a:ext cx="115249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Dev 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5612" y="2133599"/>
            <a:ext cx="2771705" cy="590549"/>
          </a:xfrm>
          <a:prstGeom prst="roundRect">
            <a:avLst>
              <a:gd name="adj" fmla="val 25806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667533" y="2377740"/>
            <a:ext cx="228594" cy="1022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10424" y="2295525"/>
            <a:ext cx="13715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Jupyter Notebook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5612" y="2876549"/>
            <a:ext cx="2771705" cy="590549"/>
          </a:xfrm>
          <a:prstGeom prst="roundRect">
            <a:avLst>
              <a:gd name="adj" fmla="val 25806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667533" y="3108959"/>
            <a:ext cx="228594" cy="12572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10424" y="3038475"/>
            <a:ext cx="65720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VS 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5612" y="3619499"/>
            <a:ext cx="2771705" cy="590549"/>
          </a:xfrm>
          <a:prstGeom prst="roundRect">
            <a:avLst>
              <a:gd name="adj" fmla="val 25806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667533" y="3831907"/>
            <a:ext cx="228594" cy="165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10424" y="3781424"/>
            <a:ext cx="5333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293B"/>
                </a:solidFill>
                <a:latin typeface="Roboto"/>
              </a:rPr>
              <a:t>GitHub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348606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Project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371600"/>
            <a:ext cx="5371965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246365" y="1734819"/>
            <a:ext cx="9905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377" y="16002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1771235"/>
            <a:ext cx="266693" cy="19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159" y="1619250"/>
            <a:ext cx="17716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159" y="1885950"/>
            <a:ext cx="177160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Gather employee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590799"/>
            <a:ext cx="5371965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46365" y="2954018"/>
            <a:ext cx="9905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377" y="28193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23" y="2961446"/>
            <a:ext cx="266693" cy="2493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159" y="2838450"/>
            <a:ext cx="26288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Data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159" y="3105149"/>
            <a:ext cx="262883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Remove missing values and duplicates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809999"/>
            <a:ext cx="5371965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46365" y="4173218"/>
            <a:ext cx="9905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377" y="40385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4180646"/>
            <a:ext cx="266693" cy="24930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00159" y="4057650"/>
            <a:ext cx="19621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Data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159" y="4324349"/>
            <a:ext cx="196210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Encode and split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5029200"/>
            <a:ext cx="5371965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246365" y="5392419"/>
            <a:ext cx="9905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377" y="52578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723" y="5424487"/>
            <a:ext cx="266693" cy="2000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00159" y="5276850"/>
            <a:ext cx="255263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159" y="5543550"/>
            <a:ext cx="255263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Visualize patterns and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4" y="1371600"/>
            <a:ext cx="5371965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846925" y="1734819"/>
            <a:ext cx="9905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14937" y="16002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8283" y="1739347"/>
            <a:ext cx="266693" cy="2551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00719" y="1619250"/>
            <a:ext cx="23430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Feature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719" y="1885950"/>
            <a:ext cx="234309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Select and create relevant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4" y="2590799"/>
            <a:ext cx="5371965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846925" y="2954018"/>
            <a:ext cx="9905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14937" y="28193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83" y="2971592"/>
            <a:ext cx="266693" cy="22901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00719" y="2838450"/>
            <a:ext cx="20763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Model 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719" y="3105149"/>
            <a:ext cx="207639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Train Random Forest Classifier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0144" y="3809999"/>
            <a:ext cx="5371965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846925" y="4173218"/>
            <a:ext cx="9905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14937" y="40385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48283" y="4200939"/>
            <a:ext cx="266693" cy="20872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00719" y="4057650"/>
            <a:ext cx="198115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Model Evaluation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0719" y="4324349"/>
            <a:ext cx="198115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Assess accuracy and metrics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0144" y="5029200"/>
            <a:ext cx="5371965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438739" y="52578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72085" y="5420139"/>
            <a:ext cx="266693" cy="20872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124521" y="5276850"/>
            <a:ext cx="18478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Prediction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24521" y="5543550"/>
            <a:ext cx="184780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BEAFE"/>
                </a:solidFill>
                <a:latin typeface="Roboto"/>
              </a:rPr>
              <a:t>Forecast employee attrition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391467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Data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066799"/>
            <a:ext cx="3457488" cy="52578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887236" y="3563619"/>
            <a:ext cx="5257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0575" y="137160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45" y="1567502"/>
            <a:ext cx="400039" cy="3701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43051" y="1600200"/>
            <a:ext cx="169540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Data Cleaning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575" y="249364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33466" y="2438400"/>
            <a:ext cx="179065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Remove missing values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575" y="29508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466" y="2895600"/>
            <a:ext cx="13715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Handle duplicates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575" y="340804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3352800"/>
            <a:ext cx="12858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Outlier treatment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1865" y="1066799"/>
            <a:ext cx="3457488" cy="52578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875045" y="3563619"/>
            <a:ext cx="5257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2856" y="1371600"/>
            <a:ext cx="676258" cy="761999"/>
          </a:xfrm>
          <a:prstGeom prst="roundRect">
            <a:avLst>
              <a:gd name="adj" fmla="val 4507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6202" y="1630196"/>
            <a:ext cx="400039" cy="2448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19609" y="1447800"/>
            <a:ext cx="1895427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Feature Encoding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2856" y="2482215"/>
            <a:ext cx="228594" cy="2171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95747" y="2438400"/>
            <a:ext cx="2428814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Convert categorical data to numerical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52856" y="3243262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95747" y="3162299"/>
            <a:ext cx="236214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Label encoding for ordinal data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52856" y="367474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95747" y="3619499"/>
            <a:ext cx="2428814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One-hot encoding for nominal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4621" y="1066799"/>
            <a:ext cx="3457488" cy="52578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627801" y="3563619"/>
            <a:ext cx="5257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505612" y="137160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86582" y="1612283"/>
            <a:ext cx="400039" cy="2806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58088" y="1600200"/>
            <a:ext cx="165730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Data Splitting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5612" y="2438400"/>
            <a:ext cx="2771705" cy="1009649"/>
          </a:xfrm>
          <a:prstGeom prst="roundRect">
            <a:avLst>
              <a:gd name="adj" fmla="val 22641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43731" y="2695575"/>
            <a:ext cx="101914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Training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34386" y="2676524"/>
            <a:ext cx="50481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D4ED8"/>
                </a:solidFill>
                <a:latin typeface="Montserrat"/>
              </a:rPr>
              <a:t>80%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43731" y="3095625"/>
            <a:ext cx="2295467" cy="114300"/>
          </a:xfrm>
          <a:prstGeom prst="roundRect">
            <a:avLst>
              <a:gd name="adj" fmla="val 1666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743731" y="3095625"/>
            <a:ext cx="1838279" cy="114300"/>
          </a:xfrm>
          <a:prstGeom prst="roundRect">
            <a:avLst>
              <a:gd name="adj" fmla="val 1666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505612" y="3638550"/>
            <a:ext cx="2771705" cy="1009649"/>
          </a:xfrm>
          <a:prstGeom prst="roundRect">
            <a:avLst>
              <a:gd name="adj" fmla="val 22641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43731" y="3895724"/>
            <a:ext cx="9620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Testing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3911" y="3876674"/>
            <a:ext cx="49528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338CA"/>
                </a:solidFill>
                <a:latin typeface="Montserrat"/>
              </a:rPr>
              <a:t>20%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43731" y="4295774"/>
            <a:ext cx="2295467" cy="114300"/>
          </a:xfrm>
          <a:prstGeom prst="roundRect">
            <a:avLst>
              <a:gd name="adj" fmla="val 1666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743731" y="4295774"/>
            <a:ext cx="457188" cy="114300"/>
          </a:xfrm>
          <a:prstGeom prst="roundRect">
            <a:avLst>
              <a:gd name="adj" fmla="val 1666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990599"/>
            <a:ext cx="4267093" cy="3848099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182385" y="2782568"/>
            <a:ext cx="38480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0575" y="1295399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71" y="1506415"/>
            <a:ext cx="304792" cy="187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2556" y="1447800"/>
            <a:ext cx="165730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Visualizations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575" y="2133599"/>
            <a:ext cx="3581310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4397" y="229362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57288" y="2257425"/>
            <a:ext cx="156206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Attrition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0575" y="2762249"/>
            <a:ext cx="3581310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4397" y="2930842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7288" y="2886075"/>
            <a:ext cx="198115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Department-wise Attrition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0575" y="3390899"/>
            <a:ext cx="3581310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4397" y="3565207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57288" y="3514725"/>
            <a:ext cx="140966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Salary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575" y="4019549"/>
            <a:ext cx="3581310" cy="514350"/>
          </a:xfrm>
          <a:prstGeom prst="roundRect">
            <a:avLst>
              <a:gd name="adj" fmla="val 29629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4397" y="4179569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57288" y="4143375"/>
            <a:ext cx="194305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Job Satisfaction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2910" y="4930859"/>
            <a:ext cx="4267093" cy="2103097"/>
          </a:xfrm>
          <a:prstGeom prst="roundRect">
            <a:avLst>
              <a:gd name="adj" fmla="val 12698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377" y="5004350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6773" y="5196315"/>
            <a:ext cx="304792" cy="2256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358" y="5156749"/>
            <a:ext cx="10000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FFFFFF"/>
                </a:solidFill>
                <a:latin typeface="Montserrat"/>
              </a:rPr>
              <a:t>Benefits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4377" y="5732436"/>
            <a:ext cx="190495" cy="1204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19169" y="5659318"/>
            <a:ext cx="236214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Understand employee behavior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4377" y="6120523"/>
            <a:ext cx="190495" cy="12046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19169" y="6040318"/>
            <a:ext cx="20382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Identify important patterns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4377" y="6494436"/>
            <a:ext cx="190495" cy="1204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19169" y="6421317"/>
            <a:ext cx="18573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  <a:latin typeface="Roboto"/>
              </a:rPr>
              <a:t>Discover key risk factors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81470" y="990599"/>
            <a:ext cx="6400639" cy="577215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2427474" y="3744595"/>
            <a:ext cx="5772151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262" y="1219200"/>
            <a:ext cx="58672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1E293B"/>
                </a:solidFill>
                <a:latin typeface="Montserrat"/>
              </a:rPr>
              <a:t>Data Analysis Graphs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668" y="1724023"/>
            <a:ext cx="6324441" cy="4890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78485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B48E230-D7BC-9F64-0D70-CE62DB94DC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7096" y="1833607"/>
            <a:ext cx="4818705" cy="48050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C9A3A-EBBA-02F9-9EFE-84A8EB63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92720E-222A-BEFB-44FD-5BD376A705B7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B6DA614-870F-46F6-16BB-A44C809263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2209B8-D941-C95C-190A-5AF34DDFB85C}"/>
              </a:ext>
            </a:extLst>
          </p:cNvPr>
          <p:cNvSpPr txBox="1"/>
          <p:nvPr/>
        </p:nvSpPr>
        <p:spPr>
          <a:xfrm>
            <a:off x="1104872" y="1905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F85F152-104E-D7DE-4C75-A059FF00B797}"/>
              </a:ext>
            </a:extLst>
          </p:cNvPr>
          <p:cNvSpPr/>
          <p:nvPr/>
        </p:nvSpPr>
        <p:spPr>
          <a:xfrm>
            <a:off x="273378" y="990599"/>
            <a:ext cx="11308732" cy="577215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679FD856-BD9D-2161-E408-4516FA54E5E4}"/>
              </a:ext>
            </a:extLst>
          </p:cNvPr>
          <p:cNvSpPr/>
          <p:nvPr/>
        </p:nvSpPr>
        <p:spPr>
          <a:xfrm rot="16200000">
            <a:off x="-2379337" y="3643314"/>
            <a:ext cx="5772151" cy="4667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441A6D-6B35-A595-FAE7-98CFE9C7D9EB}"/>
              </a:ext>
            </a:extLst>
          </p:cNvPr>
          <p:cNvSpPr/>
          <p:nvPr/>
        </p:nvSpPr>
        <p:spPr>
          <a:xfrm>
            <a:off x="0" y="78485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407E683-3E78-E106-E829-04C0C8DD8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55" y="1053146"/>
            <a:ext cx="10220655" cy="564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4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2BC40-465E-E492-A0FA-229B35F4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E3993C-F213-1AD5-2562-A463270BD120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83BD2FD-537D-C50A-CB26-DFF4D9301B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2DE70E-2466-A135-F416-CF17913C29BF}"/>
              </a:ext>
            </a:extLst>
          </p:cNvPr>
          <p:cNvSpPr txBox="1"/>
          <p:nvPr/>
        </p:nvSpPr>
        <p:spPr>
          <a:xfrm>
            <a:off x="1104872" y="1905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5EECDA4-2381-A541-D948-26D30AF31806}"/>
              </a:ext>
            </a:extLst>
          </p:cNvPr>
          <p:cNvSpPr/>
          <p:nvPr/>
        </p:nvSpPr>
        <p:spPr>
          <a:xfrm>
            <a:off x="273378" y="990599"/>
            <a:ext cx="11308732" cy="577215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B3B31DD7-BAD2-3076-9B27-7E47698965F8}"/>
              </a:ext>
            </a:extLst>
          </p:cNvPr>
          <p:cNvSpPr/>
          <p:nvPr/>
        </p:nvSpPr>
        <p:spPr>
          <a:xfrm rot="16200000">
            <a:off x="-2379337" y="3643314"/>
            <a:ext cx="5772151" cy="4667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AADF18-5F1B-5854-2CAF-08FCCB08FDFF}"/>
              </a:ext>
            </a:extLst>
          </p:cNvPr>
          <p:cNvSpPr/>
          <p:nvPr/>
        </p:nvSpPr>
        <p:spPr>
          <a:xfrm>
            <a:off x="0" y="78485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5CDAE2-B72E-93F5-77B2-AB42034CE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982" y="1117936"/>
            <a:ext cx="9986128" cy="551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48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BFDCC-5039-802B-FF93-7E6064DF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24B8AC-99E8-3818-08C8-3EF010AC09B1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20B102B-8F31-F786-7243-506BF6AE98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BF6313-154C-F7AE-6F36-F4881B52CC20}"/>
              </a:ext>
            </a:extLst>
          </p:cNvPr>
          <p:cNvSpPr txBox="1"/>
          <p:nvPr/>
        </p:nvSpPr>
        <p:spPr>
          <a:xfrm>
            <a:off x="1104872" y="1905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F6470A6-62B3-D104-7B6C-EDD5B2ABA3B9}"/>
              </a:ext>
            </a:extLst>
          </p:cNvPr>
          <p:cNvSpPr/>
          <p:nvPr/>
        </p:nvSpPr>
        <p:spPr>
          <a:xfrm>
            <a:off x="273378" y="990599"/>
            <a:ext cx="11308732" cy="577215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B5B2971B-48C5-6890-EF4A-8F7291A9C848}"/>
              </a:ext>
            </a:extLst>
          </p:cNvPr>
          <p:cNvSpPr/>
          <p:nvPr/>
        </p:nvSpPr>
        <p:spPr>
          <a:xfrm rot="16200000">
            <a:off x="-2379337" y="3643314"/>
            <a:ext cx="5772151" cy="4667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A1F7C2-B409-5EB7-6DE2-627D7883BD2F}"/>
              </a:ext>
            </a:extLst>
          </p:cNvPr>
          <p:cNvSpPr/>
          <p:nvPr/>
        </p:nvSpPr>
        <p:spPr>
          <a:xfrm>
            <a:off x="0" y="78485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EB9747-6F2C-40E8-FB77-E8BA408EB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38" y="1178004"/>
            <a:ext cx="6714811" cy="526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83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5D8C7-AC2C-BF37-C2AA-DE199C02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BE013C-14EB-66E9-6640-E818A6738E9A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7258369-DC8E-6916-DD6A-7324B0ABD9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D231EB-1363-C136-B8AF-987DD007B371}"/>
              </a:ext>
            </a:extLst>
          </p:cNvPr>
          <p:cNvSpPr txBox="1"/>
          <p:nvPr/>
        </p:nvSpPr>
        <p:spPr>
          <a:xfrm>
            <a:off x="1104872" y="1905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357A876-D708-92F2-3589-455B6D933490}"/>
              </a:ext>
            </a:extLst>
          </p:cNvPr>
          <p:cNvSpPr/>
          <p:nvPr/>
        </p:nvSpPr>
        <p:spPr>
          <a:xfrm>
            <a:off x="273378" y="990599"/>
            <a:ext cx="11308732" cy="577215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6997451F-31E5-2FBE-C669-C0D138860463}"/>
              </a:ext>
            </a:extLst>
          </p:cNvPr>
          <p:cNvSpPr/>
          <p:nvPr/>
        </p:nvSpPr>
        <p:spPr>
          <a:xfrm rot="16200000">
            <a:off x="-2379337" y="3643314"/>
            <a:ext cx="5772151" cy="4667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A6A6DE-4AAE-C644-52A4-600417747F3A}"/>
              </a:ext>
            </a:extLst>
          </p:cNvPr>
          <p:cNvSpPr/>
          <p:nvPr/>
        </p:nvSpPr>
        <p:spPr>
          <a:xfrm>
            <a:off x="0" y="78485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E2BF07-6C8A-54A1-A2B0-4D55EB983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127" y="1366641"/>
            <a:ext cx="9272034" cy="502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69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F0E96-E370-9A22-49AB-FDE6940D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E5D8DF-F2D4-EBEA-75C6-CD27A6AEDBCE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0C586F4-B2F4-B382-86B3-30C46616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6CF5AE-B27F-AC54-C650-D75710D272A2}"/>
              </a:ext>
            </a:extLst>
          </p:cNvPr>
          <p:cNvSpPr txBox="1"/>
          <p:nvPr/>
        </p:nvSpPr>
        <p:spPr>
          <a:xfrm>
            <a:off x="1104872" y="1905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EC8446A-00B5-E1AA-4F88-45EE39DD2D2E}"/>
              </a:ext>
            </a:extLst>
          </p:cNvPr>
          <p:cNvSpPr/>
          <p:nvPr/>
        </p:nvSpPr>
        <p:spPr>
          <a:xfrm>
            <a:off x="273378" y="990599"/>
            <a:ext cx="11308732" cy="577215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6B4BE8D9-03B0-34E2-64C0-F97B8FB18BE7}"/>
              </a:ext>
            </a:extLst>
          </p:cNvPr>
          <p:cNvSpPr/>
          <p:nvPr/>
        </p:nvSpPr>
        <p:spPr>
          <a:xfrm rot="16200000">
            <a:off x="-2379337" y="3643314"/>
            <a:ext cx="5772151" cy="4667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E8941F-9CB7-B38C-A8C9-78A64CEFC97D}"/>
              </a:ext>
            </a:extLst>
          </p:cNvPr>
          <p:cNvSpPr/>
          <p:nvPr/>
        </p:nvSpPr>
        <p:spPr>
          <a:xfrm>
            <a:off x="0" y="78485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80581-9410-1753-76D0-B54F09089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788" y="1295757"/>
            <a:ext cx="7854712" cy="50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86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A9EE6-2269-2CBA-C931-CA06C141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86E0A1-0603-83B8-AEB8-AE4B928A1A03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7F4C441-C351-7263-2198-9326525300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7651EA-D2A0-511C-2AD0-6D1F665F8C85}"/>
              </a:ext>
            </a:extLst>
          </p:cNvPr>
          <p:cNvSpPr txBox="1"/>
          <p:nvPr/>
        </p:nvSpPr>
        <p:spPr>
          <a:xfrm>
            <a:off x="1104872" y="1905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D67648E-6B92-242D-7A09-8C540B0E6B15}"/>
              </a:ext>
            </a:extLst>
          </p:cNvPr>
          <p:cNvSpPr/>
          <p:nvPr/>
        </p:nvSpPr>
        <p:spPr>
          <a:xfrm>
            <a:off x="273378" y="990599"/>
            <a:ext cx="11308732" cy="577215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8AFC5FE3-B616-DB96-96CA-D9D0A92C5366}"/>
              </a:ext>
            </a:extLst>
          </p:cNvPr>
          <p:cNvSpPr/>
          <p:nvPr/>
        </p:nvSpPr>
        <p:spPr>
          <a:xfrm rot="16200000">
            <a:off x="-2379337" y="3643314"/>
            <a:ext cx="5772151" cy="4667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729E65-1E02-4C7D-6F62-32A7B0E1923F}"/>
              </a:ext>
            </a:extLst>
          </p:cNvPr>
          <p:cNvSpPr/>
          <p:nvPr/>
        </p:nvSpPr>
        <p:spPr>
          <a:xfrm>
            <a:off x="0" y="78485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35849-CDB5-0DC0-C958-D3B69098B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313" y="1263043"/>
            <a:ext cx="6957918" cy="538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1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F89F9-1B0A-5202-5818-D2F8D1DC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8BB9D5-51C9-2557-A24B-FF5B4705E398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943840E-388C-AE91-8CD1-59607AA22E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58476"/>
            <a:ext cx="342891" cy="292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682C30-2A1C-8800-62DA-D2EE76227B97}"/>
              </a:ext>
            </a:extLst>
          </p:cNvPr>
          <p:cNvSpPr txBox="1"/>
          <p:nvPr/>
        </p:nvSpPr>
        <p:spPr>
          <a:xfrm>
            <a:off x="1104872" y="19050"/>
            <a:ext cx="492430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Machine Learning Model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B01661-AE30-2983-8484-0E9B438DB237}"/>
              </a:ext>
            </a:extLst>
          </p:cNvPr>
          <p:cNvSpPr/>
          <p:nvPr/>
        </p:nvSpPr>
        <p:spPr>
          <a:xfrm>
            <a:off x="609584" y="990599"/>
            <a:ext cx="5333866" cy="567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3CFDA3-F8CB-218E-4DD5-13D5219AD94D}"/>
              </a:ext>
            </a:extLst>
          </p:cNvPr>
          <p:cNvSpPr/>
          <p:nvPr/>
        </p:nvSpPr>
        <p:spPr>
          <a:xfrm>
            <a:off x="990575" y="1200151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0616B081-E1A2-B577-09FF-93F150B4FF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71" y="1388645"/>
            <a:ext cx="457188" cy="385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328046-F426-0012-F12D-56050D5895A4}"/>
              </a:ext>
            </a:extLst>
          </p:cNvPr>
          <p:cNvSpPr txBox="1"/>
          <p:nvPr/>
        </p:nvSpPr>
        <p:spPr>
          <a:xfrm>
            <a:off x="1943051" y="1253357"/>
            <a:ext cx="2500941" cy="38888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340"/>
              </a:lnSpc>
            </a:pPr>
            <a:r>
              <a:rPr lang="en-US" sz="1794" b="1" dirty="0">
                <a:solidFill>
                  <a:srgbClr val="FFFFFF"/>
                </a:solidFill>
                <a:latin typeface="Montserrat"/>
              </a:rPr>
              <a:t>Logistic Regression</a:t>
            </a:r>
            <a:endParaRPr sz="1794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B0B883-EF40-CAA1-1FB4-10741845830D}"/>
              </a:ext>
            </a:extLst>
          </p:cNvPr>
          <p:cNvSpPr txBox="1"/>
          <p:nvPr/>
        </p:nvSpPr>
        <p:spPr>
          <a:xfrm>
            <a:off x="1943051" y="1619251"/>
            <a:ext cx="22954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BEAFE"/>
                </a:solidFill>
                <a:latin typeface="Roboto"/>
              </a:rPr>
              <a:t>Classifier Algorithm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D9207F-BB02-8E7D-2008-9C1A2685BAE3}"/>
              </a:ext>
            </a:extLst>
          </p:cNvPr>
          <p:cNvSpPr/>
          <p:nvPr/>
        </p:nvSpPr>
        <p:spPr>
          <a:xfrm>
            <a:off x="990575" y="2266950"/>
            <a:ext cx="4571885" cy="761999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FA928-0675-5F26-DFAC-B9D1EC7F4288}"/>
              </a:ext>
            </a:extLst>
          </p:cNvPr>
          <p:cNvSpPr txBox="1"/>
          <p:nvPr/>
        </p:nvSpPr>
        <p:spPr>
          <a:xfrm>
            <a:off x="1228693" y="2308898"/>
            <a:ext cx="4095647" cy="5716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85"/>
              </a:lnSpc>
            </a:pPr>
            <a:r>
              <a:rPr lang="en-US" sz="1076" dirty="0">
                <a:solidFill>
                  <a:srgbClr val="FFFFFF"/>
                </a:solidFill>
                <a:latin typeface="Roboto"/>
              </a:rPr>
              <a:t>Logistic Regression is well-suited for predicting whether an employee will stay or leave the organization.</a:t>
            </a:r>
            <a:endParaRPr sz="1076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B6556E-100B-9D45-A303-A23C1839397A}"/>
              </a:ext>
            </a:extLst>
          </p:cNvPr>
          <p:cNvSpPr/>
          <p:nvPr/>
        </p:nvSpPr>
        <p:spPr>
          <a:xfrm>
            <a:off x="6256241" y="762996"/>
            <a:ext cx="5333866" cy="358140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 Same Side Corner Rectangle 12">
            <a:extLst>
              <a:ext uri="{FF2B5EF4-FFF2-40B4-BE49-F238E27FC236}">
                <a16:creationId xmlns:a16="http://schemas.microsoft.com/office/drawing/2014/main" id="{16193A5F-0886-AC45-25F4-CCAE779E1652}"/>
              </a:ext>
            </a:extLst>
          </p:cNvPr>
          <p:cNvSpPr/>
          <p:nvPr/>
        </p:nvSpPr>
        <p:spPr>
          <a:xfrm rot="16200000">
            <a:off x="4597621" y="2421616"/>
            <a:ext cx="35814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060A76-0CBC-3761-7FF3-56826D4E18E7}"/>
              </a:ext>
            </a:extLst>
          </p:cNvPr>
          <p:cNvSpPr/>
          <p:nvPr/>
        </p:nvSpPr>
        <p:spPr>
          <a:xfrm>
            <a:off x="6629234" y="129539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8F2D11EE-2AFC-9A9B-37E1-32122B58EF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3531" y="1427284"/>
            <a:ext cx="304792" cy="2696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F97B1E-68CE-60F7-440E-272EF3AD625F}"/>
              </a:ext>
            </a:extLst>
          </p:cNvPr>
          <p:cNvSpPr txBox="1"/>
          <p:nvPr/>
        </p:nvSpPr>
        <p:spPr>
          <a:xfrm>
            <a:off x="7315017" y="1382979"/>
            <a:ext cx="2531399" cy="3582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en-US" sz="1435" b="1" dirty="0">
                <a:solidFill>
                  <a:srgbClr val="1E293B"/>
                </a:solidFill>
                <a:latin typeface="Montserrat"/>
              </a:rPr>
              <a:t>Why Logistic Regression</a:t>
            </a:r>
            <a:endParaRPr sz="1435" b="1" dirty="0">
              <a:solidFill>
                <a:srgbClr val="1E293B"/>
              </a:solidFill>
              <a:latin typeface="Montserrat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19A53D4-098B-F101-E7B7-3C05B8254779}"/>
              </a:ext>
            </a:extLst>
          </p:cNvPr>
          <p:cNvSpPr/>
          <p:nvPr/>
        </p:nvSpPr>
        <p:spPr>
          <a:xfrm>
            <a:off x="6629234" y="1953707"/>
            <a:ext cx="2247843" cy="895350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2EFB6BBD-3EDB-1A98-69CE-0B9220EF95C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1155" y="2167543"/>
            <a:ext cx="228594" cy="1628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BFC9E38-1DCA-77A0-2D64-511F30A7950E}"/>
              </a:ext>
            </a:extLst>
          </p:cNvPr>
          <p:cNvSpPr txBox="1"/>
          <p:nvPr/>
        </p:nvSpPr>
        <p:spPr>
          <a:xfrm>
            <a:off x="7095947" y="2115631"/>
            <a:ext cx="12858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High Accuracy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DF4B26-FBBC-0BA3-F000-EFC17EEDC84B}"/>
              </a:ext>
            </a:extLst>
          </p:cNvPr>
          <p:cNvSpPr txBox="1"/>
          <p:nvPr/>
        </p:nvSpPr>
        <p:spPr>
          <a:xfrm>
            <a:off x="6791155" y="2458531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Robust predictions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A59FF00-171B-7343-DBC1-1C045F03ACE0}"/>
              </a:ext>
            </a:extLst>
          </p:cNvPr>
          <p:cNvSpPr/>
          <p:nvPr/>
        </p:nvSpPr>
        <p:spPr>
          <a:xfrm>
            <a:off x="9029474" y="1953707"/>
            <a:ext cx="2247843" cy="895350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8526E62A-9D1D-6268-BD3B-7882D45C2D7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1395" y="2166114"/>
            <a:ext cx="228594" cy="1657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F77898-14B5-1A08-A348-53DBE99672BA}"/>
              </a:ext>
            </a:extLst>
          </p:cNvPr>
          <p:cNvSpPr txBox="1"/>
          <p:nvPr/>
        </p:nvSpPr>
        <p:spPr>
          <a:xfrm>
            <a:off x="9496187" y="2115631"/>
            <a:ext cx="89532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Scalability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BA2858-32BF-8939-F221-B57AE455B19A}"/>
              </a:ext>
            </a:extLst>
          </p:cNvPr>
          <p:cNvSpPr txBox="1"/>
          <p:nvPr/>
        </p:nvSpPr>
        <p:spPr>
          <a:xfrm>
            <a:off x="9191395" y="2458531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Handles large datasets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2E6C0AC-55EB-0EDE-32B7-CA880E088091}"/>
              </a:ext>
            </a:extLst>
          </p:cNvPr>
          <p:cNvSpPr/>
          <p:nvPr/>
        </p:nvSpPr>
        <p:spPr>
          <a:xfrm>
            <a:off x="6629234" y="3001456"/>
            <a:ext cx="2247843" cy="1162050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835866F0-D211-B948-5488-D3CE37C49E9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1155" y="3321497"/>
            <a:ext cx="228594" cy="21717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0A592B3-1DE1-CEF5-3103-B0695968338B}"/>
              </a:ext>
            </a:extLst>
          </p:cNvPr>
          <p:cNvSpPr txBox="1"/>
          <p:nvPr/>
        </p:nvSpPr>
        <p:spPr>
          <a:xfrm>
            <a:off x="7095947" y="3163382"/>
            <a:ext cx="1619209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Reduces Overfitting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D14077-2B0C-38F5-048D-4014CA4AB5B1}"/>
              </a:ext>
            </a:extLst>
          </p:cNvPr>
          <p:cNvSpPr txBox="1"/>
          <p:nvPr/>
        </p:nvSpPr>
        <p:spPr>
          <a:xfrm>
            <a:off x="6791155" y="3772981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Ensemble approach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5C9202C-8B39-3418-88A7-6A16F635E244}"/>
              </a:ext>
            </a:extLst>
          </p:cNvPr>
          <p:cNvSpPr/>
          <p:nvPr/>
        </p:nvSpPr>
        <p:spPr>
          <a:xfrm>
            <a:off x="9029474" y="3001456"/>
            <a:ext cx="2247843" cy="1162050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D5953CC1-9D5D-4241-55ED-8D851317733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91395" y="3337213"/>
            <a:ext cx="228594" cy="1857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5840DF2-8183-B34D-84D8-E2BE466D1F98}"/>
              </a:ext>
            </a:extLst>
          </p:cNvPr>
          <p:cNvSpPr txBox="1"/>
          <p:nvPr/>
        </p:nvSpPr>
        <p:spPr>
          <a:xfrm>
            <a:off x="9496187" y="3163382"/>
            <a:ext cx="1619209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Feature Importance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CB9030-9411-3A6A-9EFB-020875CFF7CD}"/>
              </a:ext>
            </a:extLst>
          </p:cNvPr>
          <p:cNvSpPr txBox="1"/>
          <p:nvPr/>
        </p:nvSpPr>
        <p:spPr>
          <a:xfrm>
            <a:off x="9191395" y="3739613"/>
            <a:ext cx="1955920" cy="2953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560"/>
              </a:lnSpc>
            </a:pPr>
            <a:r>
              <a:rPr lang="en-US" sz="956" dirty="0">
                <a:solidFill>
                  <a:srgbClr val="475569"/>
                </a:solidFill>
                <a:latin typeface="Roboto"/>
              </a:rPr>
              <a:t>simple, fast, and easy to interpret</a:t>
            </a:r>
            <a:endParaRPr sz="956" b="0" dirty="0">
              <a:solidFill>
                <a:srgbClr val="475569"/>
              </a:solidFill>
              <a:latin typeface="Roboto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5E889E3-7558-D35B-83D9-9E6A2CBF6727}"/>
              </a:ext>
            </a:extLst>
          </p:cNvPr>
          <p:cNvSpPr/>
          <p:nvPr/>
        </p:nvSpPr>
        <p:spPr>
          <a:xfrm>
            <a:off x="6264240" y="4467223"/>
            <a:ext cx="5333866" cy="2438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C0ECBFFE-9DC0-DFEF-8636-FB6B4796C1D8}"/>
              </a:ext>
            </a:extLst>
          </p:cNvPr>
          <p:cNvSpPr/>
          <p:nvPr/>
        </p:nvSpPr>
        <p:spPr>
          <a:xfrm rot="16200000">
            <a:off x="5177120" y="5554343"/>
            <a:ext cx="24384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0DBFD33-7966-531A-3E52-F3DEFB62D3C1}"/>
              </a:ext>
            </a:extLst>
          </p:cNvPr>
          <p:cNvSpPr/>
          <p:nvPr/>
        </p:nvSpPr>
        <p:spPr>
          <a:xfrm>
            <a:off x="6629234" y="4671768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DF1F1289-4E28-3504-69E2-54904E728C9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43531" y="4821237"/>
            <a:ext cx="304792" cy="23446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1640F61-F5B7-E8A1-E281-A873B54918E3}"/>
              </a:ext>
            </a:extLst>
          </p:cNvPr>
          <p:cNvSpPr txBox="1"/>
          <p:nvPr/>
        </p:nvSpPr>
        <p:spPr>
          <a:xfrm>
            <a:off x="7315017" y="4786068"/>
            <a:ext cx="198115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1E293B"/>
                </a:solidFill>
                <a:latin typeface="Montserrat"/>
              </a:rPr>
              <a:t>Training Process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74A0AC7-42EE-ED39-51FA-4A8AEDD109A3}"/>
              </a:ext>
            </a:extLst>
          </p:cNvPr>
          <p:cNvSpPr/>
          <p:nvPr/>
        </p:nvSpPr>
        <p:spPr>
          <a:xfrm>
            <a:off x="6629234" y="5509968"/>
            <a:ext cx="1219169" cy="876299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8AFCA0FF-F26F-C3FD-8415-AE058155164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05472" y="5691357"/>
            <a:ext cx="266693" cy="20872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E257FED-0655-687B-B4A5-F017FD4CF07F}"/>
              </a:ext>
            </a:extLst>
          </p:cNvPr>
          <p:cNvSpPr txBox="1"/>
          <p:nvPr/>
        </p:nvSpPr>
        <p:spPr>
          <a:xfrm>
            <a:off x="6781630" y="6005267"/>
            <a:ext cx="91437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Train Model</a:t>
            </a:r>
          </a:p>
        </p:txBody>
      </p:sp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ECF52FFC-4557-8523-A561-B34C856547F0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62700" y="5852453"/>
            <a:ext cx="266693" cy="191328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3338170-0ECF-80F9-3C36-7470CCDE21F6}"/>
              </a:ext>
            </a:extLst>
          </p:cNvPr>
          <p:cNvSpPr/>
          <p:nvPr/>
        </p:nvSpPr>
        <p:spPr>
          <a:xfrm>
            <a:off x="8343691" y="5395668"/>
            <a:ext cx="1219169" cy="110490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BF42EC9A-BEC8-D6AB-C0D5-56C723FA837B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19929" y="5585753"/>
            <a:ext cx="266693" cy="19132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0043B3A-398C-C28D-1271-4DE25F2C5AA8}"/>
              </a:ext>
            </a:extLst>
          </p:cNvPr>
          <p:cNvSpPr txBox="1"/>
          <p:nvPr/>
        </p:nvSpPr>
        <p:spPr>
          <a:xfrm>
            <a:off x="8496087" y="5890967"/>
            <a:ext cx="914377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Learn Patterns</a:t>
            </a:r>
          </a:p>
        </p:txBody>
      </p:sp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EBEDB5E0-6A67-DFE2-B2F8-4CE2DBFEC2C5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77158" y="5852453"/>
            <a:ext cx="266693" cy="191328"/>
          </a:xfrm>
          <a:prstGeom prst="rect">
            <a:avLst/>
          </a:prstGeom>
        </p:spPr>
      </p:pic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3037ABC-5C80-6423-A820-0999ED443A48}"/>
              </a:ext>
            </a:extLst>
          </p:cNvPr>
          <p:cNvSpPr/>
          <p:nvPr/>
        </p:nvSpPr>
        <p:spPr>
          <a:xfrm>
            <a:off x="10058148" y="5395668"/>
            <a:ext cx="1219169" cy="110490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EC1122CA-669B-F0FD-DAFD-E549EFA21EF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534386" y="5568360"/>
            <a:ext cx="266693" cy="22611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2AD347C-F73D-832F-36E3-014908272D5F}"/>
              </a:ext>
            </a:extLst>
          </p:cNvPr>
          <p:cNvSpPr txBox="1"/>
          <p:nvPr/>
        </p:nvSpPr>
        <p:spPr>
          <a:xfrm>
            <a:off x="10210544" y="5890967"/>
            <a:ext cx="914377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Predict Attrition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C0118B2-C1DE-E523-2CAF-B525F22D95F3}"/>
              </a:ext>
            </a:extLst>
          </p:cNvPr>
          <p:cNvSpPr/>
          <p:nvPr/>
        </p:nvSpPr>
        <p:spPr>
          <a:xfrm>
            <a:off x="0" y="76199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26B06B0-1AE9-6101-C06E-B6E3388B25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0760" y="3238501"/>
            <a:ext cx="4011089" cy="33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96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58476"/>
            <a:ext cx="342891" cy="292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492430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Machine Learning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990599"/>
            <a:ext cx="5333866" cy="5676900"/>
          </a:xfrm>
          <a:prstGeom prst="roundRect">
            <a:avLst>
              <a:gd name="adj" fmla="val 5714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90575" y="111643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71" y="1304924"/>
            <a:ext cx="457188" cy="385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43051" y="1192630"/>
            <a:ext cx="229546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3051" y="1535530"/>
            <a:ext cx="22954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BEAFE"/>
                </a:solidFill>
                <a:latin typeface="Roboto"/>
              </a:rPr>
              <a:t>Classifier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575" y="1985267"/>
            <a:ext cx="4571885" cy="761999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8694" y="1936633"/>
            <a:ext cx="4095647" cy="838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  <a:latin typeface="Roboto"/>
              </a:rPr>
              <a:t>An ensemble learning method that constructs multiple decision trees during training and outputs the mode of the classes for classification.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6241" y="762996"/>
            <a:ext cx="5333866" cy="358140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4597621" y="2421616"/>
            <a:ext cx="35814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29234" y="129539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3531" y="1427284"/>
            <a:ext cx="304792" cy="2696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017" y="1409699"/>
            <a:ext cx="259073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Why Random Forest?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234" y="1953707"/>
            <a:ext cx="2247843" cy="895350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1155" y="2167543"/>
            <a:ext cx="228594" cy="1628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95947" y="2115631"/>
            <a:ext cx="12858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High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155" y="2458531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Robust 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9474" y="1953707"/>
            <a:ext cx="2247843" cy="895350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1395" y="2166114"/>
            <a:ext cx="228594" cy="1657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96187" y="2115631"/>
            <a:ext cx="89532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1395" y="2458531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Handles large datasets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234" y="3001456"/>
            <a:ext cx="2247843" cy="1162050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1155" y="3321497"/>
            <a:ext cx="228594" cy="2171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95947" y="3163382"/>
            <a:ext cx="1619209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Reduces Overfitting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1155" y="3772981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Ensemble approach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474" y="3001456"/>
            <a:ext cx="2247843" cy="1162050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91395" y="3337213"/>
            <a:ext cx="228594" cy="1857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96187" y="3163382"/>
            <a:ext cx="1619209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Montserrat"/>
              </a:rPr>
              <a:t>Feature Importance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1395" y="3772981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Easy interpretation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4240" y="4467223"/>
            <a:ext cx="5333866" cy="2438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177120" y="5554343"/>
            <a:ext cx="24384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629234" y="4671768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43531" y="4821237"/>
            <a:ext cx="304792" cy="23446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017" y="4786068"/>
            <a:ext cx="198115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1E293B"/>
                </a:solidFill>
                <a:latin typeface="Montserrat"/>
              </a:rPr>
              <a:t>Training Process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234" y="5509968"/>
            <a:ext cx="1219169" cy="876299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05472" y="5691357"/>
            <a:ext cx="266693" cy="20872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81630" y="6005267"/>
            <a:ext cx="91437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Train Model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62700" y="5852453"/>
            <a:ext cx="266693" cy="19132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8343691" y="5395668"/>
            <a:ext cx="1219169" cy="110490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19929" y="5585753"/>
            <a:ext cx="266693" cy="1913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496087" y="5890967"/>
            <a:ext cx="914377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Learn Patterns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77158" y="5852453"/>
            <a:ext cx="266693" cy="19132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0058148" y="5395668"/>
            <a:ext cx="1219169" cy="110490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534386" y="5568360"/>
            <a:ext cx="266693" cy="22611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210544" y="5890967"/>
            <a:ext cx="914377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4155"/>
                </a:solidFill>
                <a:latin typeface="Roboto"/>
              </a:rPr>
              <a:t>Predict Attrition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76199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F6C807C-FC56-0C69-BDF7-5ABC8050BD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6289" y="3008950"/>
            <a:ext cx="4053119" cy="33392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345748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Model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990599"/>
            <a:ext cx="5333866" cy="3314700"/>
          </a:xfrm>
          <a:prstGeom prst="roundRect">
            <a:avLst>
              <a:gd name="adj" fmla="val 9195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377" y="1295399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1467178"/>
            <a:ext cx="342891" cy="266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76358" y="1447800"/>
            <a:ext cx="250501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Performance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377" y="2133599"/>
            <a:ext cx="2285942" cy="857250"/>
          </a:xfrm>
          <a:prstGeom prst="roundRect">
            <a:avLst>
              <a:gd name="adj" fmla="val 1777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298" y="23317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81090" y="2295525"/>
            <a:ext cx="8096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298" y="2638425"/>
            <a:ext cx="19621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Overall correctness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2716" y="2133599"/>
            <a:ext cx="2285942" cy="857250"/>
          </a:xfrm>
          <a:prstGeom prst="roundRect">
            <a:avLst>
              <a:gd name="adj" fmla="val 1777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637" y="2320289"/>
            <a:ext cx="228594" cy="217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19429" y="2295525"/>
            <a:ext cx="8096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637" y="2638425"/>
            <a:ext cx="19621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True positive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377" y="3143250"/>
            <a:ext cx="2285942" cy="857250"/>
          </a:xfrm>
          <a:prstGeom prst="roundRect">
            <a:avLst>
              <a:gd name="adj" fmla="val 1777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6298" y="3341370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1090" y="3305174"/>
            <a:ext cx="5333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298" y="3648074"/>
            <a:ext cx="19621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Sensitivity measure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2716" y="3143250"/>
            <a:ext cx="2285942" cy="857250"/>
          </a:xfrm>
          <a:prstGeom prst="roundRect">
            <a:avLst>
              <a:gd name="adj" fmla="val 1777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14637" y="3345656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19429" y="3305174"/>
            <a:ext cx="7143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F1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4637" y="3648074"/>
            <a:ext cx="19621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"/>
              </a:rPr>
              <a:t>Balanced metric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495799"/>
            <a:ext cx="5333866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172736" y="5278119"/>
            <a:ext cx="1828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0575" y="48006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4872" y="4938346"/>
            <a:ext cx="304792" cy="2579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76358" y="4914900"/>
            <a:ext cx="20382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Confusion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75" y="5486400"/>
            <a:ext cx="464808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104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Visualizes True Positives, True Negatives, False Positives, and False Negatives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243" y="990599"/>
            <a:ext cx="5333866" cy="541019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675224" y="3563618"/>
            <a:ext cx="54101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29234" y="1295399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62580" y="1467178"/>
            <a:ext cx="342891" cy="26604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91215" y="1447800"/>
            <a:ext cx="168588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Model Results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234" y="2343150"/>
            <a:ext cx="2228794" cy="1562100"/>
          </a:xfrm>
          <a:prstGeom prst="roundRect">
            <a:avLst>
              <a:gd name="adj" fmla="val 14634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91235" y="2617176"/>
            <a:ext cx="304792" cy="21394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57828" y="2952750"/>
            <a:ext cx="177160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Accuracy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7828" y="3219449"/>
            <a:ext cx="177160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 dirty="0">
                <a:solidFill>
                  <a:srgbClr val="1D4ED8"/>
                </a:solidFill>
                <a:latin typeface="Montserrat"/>
              </a:rPr>
              <a:t>85%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48523" y="2343150"/>
            <a:ext cx="2228794" cy="1562100"/>
          </a:xfrm>
          <a:prstGeom prst="roundRect">
            <a:avLst>
              <a:gd name="adj" fmla="val 14634"/>
            </a:avLst>
          </a:prstGeom>
          <a:gradFill rotWithShape="1">
            <a:gsLst>
              <a:gs pos="0">
                <a:srgbClr val="ECFEFF"/>
              </a:gs>
              <a:gs pos="100000">
                <a:srgbClr val="CFFAFE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010524" y="2580542"/>
            <a:ext cx="304792" cy="28721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77118" y="2952750"/>
            <a:ext cx="177160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Precision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7118" y="3219449"/>
            <a:ext cx="177160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0E7490"/>
                </a:solidFill>
                <a:latin typeface="Montserrat"/>
              </a:rPr>
              <a:t>83%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234" y="4095749"/>
            <a:ext cx="2228794" cy="1562100"/>
          </a:xfrm>
          <a:prstGeom prst="roundRect">
            <a:avLst>
              <a:gd name="adj" fmla="val 14634"/>
            </a:avLst>
          </a:prstGeom>
          <a:gradFill rotWithShape="1">
            <a:gsLst>
              <a:gs pos="0">
                <a:srgbClr val="EEF2FF"/>
              </a:gs>
              <a:gs pos="100000">
                <a:srgbClr val="E0E7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91235" y="4347796"/>
            <a:ext cx="304792" cy="2579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57828" y="4705350"/>
            <a:ext cx="177160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7828" y="4972050"/>
            <a:ext cx="177160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4338CA"/>
                </a:solidFill>
                <a:latin typeface="Montserrat"/>
              </a:rPr>
              <a:t>81%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48523" y="4095749"/>
            <a:ext cx="2228794" cy="1562100"/>
          </a:xfrm>
          <a:prstGeom prst="roundRect">
            <a:avLst>
              <a:gd name="adj" fmla="val 14634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010524" y="4353657"/>
            <a:ext cx="304792" cy="2461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277118" y="4705350"/>
            <a:ext cx="177160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475569"/>
                </a:solidFill>
                <a:latin typeface="Roboto"/>
              </a:rPr>
              <a:t>F1 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7118" y="4972050"/>
            <a:ext cx="177160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D4ED8"/>
                </a:solidFill>
                <a:latin typeface="Montserrat"/>
              </a:rPr>
              <a:t>82%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E5FB75-8A0C-0821-9161-401034E2FEAF}"/>
              </a:ext>
            </a:extLst>
          </p:cNvPr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39371AD-CBC7-639A-2A6F-D9FE8DD15C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50D1B2-3732-6A1B-50BA-6D2EA39E52E1}"/>
              </a:ext>
            </a:extLst>
          </p:cNvPr>
          <p:cNvSpPr txBox="1"/>
          <p:nvPr/>
        </p:nvSpPr>
        <p:spPr>
          <a:xfrm>
            <a:off x="1104872" y="19050"/>
            <a:ext cx="345748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Model Evaluation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DE6E6D-3F65-AA35-AFD1-89CD2775B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618" y="843270"/>
            <a:ext cx="6016764" cy="50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27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177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365750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Prediction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066799"/>
            <a:ext cx="4143271" cy="6038849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2277760" y="3954143"/>
            <a:ext cx="603884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0575" y="1371600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921" y="1543378"/>
            <a:ext cx="342891" cy="2660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2556" y="1523999"/>
            <a:ext cx="64768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575" y="2286000"/>
            <a:ext cx="3457488" cy="781050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496" y="2553321"/>
            <a:ext cx="266693" cy="2464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1585" y="2447924"/>
            <a:ext cx="44766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"/>
              </a:rPr>
              <a:t>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585" y="2638425"/>
            <a:ext cx="44766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Roboto"/>
              </a:rPr>
              <a:t>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0575" y="3219449"/>
            <a:ext cx="3457488" cy="781050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2496" y="3505614"/>
            <a:ext cx="266693" cy="2087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71585" y="3381375"/>
            <a:ext cx="90485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"/>
              </a:rPr>
              <a:t>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585" y="3571875"/>
            <a:ext cx="90485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Roboto"/>
              </a:rPr>
              <a:t>Department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0575" y="4152899"/>
            <a:ext cx="3457488" cy="781050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2496" y="4447760"/>
            <a:ext cx="266693" cy="1913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71585" y="4314825"/>
            <a:ext cx="47623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"/>
              </a:rPr>
              <a:t>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585" y="4505325"/>
            <a:ext cx="47623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Roboto"/>
              </a:rPr>
              <a:t>Salary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575" y="5086350"/>
            <a:ext cx="3457488" cy="781050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52496" y="5368165"/>
            <a:ext cx="266693" cy="21741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71585" y="5248275"/>
            <a:ext cx="84770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"/>
              </a:rPr>
              <a:t>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1585" y="5438774"/>
            <a:ext cx="8477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Roboto"/>
              </a:rPr>
              <a:t>Experience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575" y="6019800"/>
            <a:ext cx="3457488" cy="781050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52496" y="6297267"/>
            <a:ext cx="266693" cy="2261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71585" y="6181724"/>
            <a:ext cx="13620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"/>
              </a:rPr>
              <a:t>Feature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1585" y="6372225"/>
            <a:ext cx="136204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Roboto"/>
              </a:rPr>
              <a:t>Satisfaction Level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14857" y="3005905"/>
            <a:ext cx="761980" cy="52233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352916" y="3876674"/>
            <a:ext cx="1495387" cy="140969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05352" y="4133552"/>
            <a:ext cx="380990" cy="32444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81510" y="4600575"/>
            <a:ext cx="10381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ML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1510" y="4867274"/>
            <a:ext cx="10381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BEAFE"/>
                </a:solidFill>
                <a:latin typeface="Roboto"/>
              </a:rPr>
              <a:t>Prediction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38839" y="1857375"/>
            <a:ext cx="4143271" cy="4457700"/>
          </a:xfrm>
          <a:prstGeom prst="roundRect">
            <a:avLst>
              <a:gd name="adj" fmla="val 73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342069" y="3954145"/>
            <a:ext cx="44577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819829" y="2162174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53176" y="2333953"/>
            <a:ext cx="342891" cy="26604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81810" y="2314575"/>
            <a:ext cx="86675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E293B"/>
                </a:solidFill>
                <a:latin typeface="Montserrat"/>
              </a:rPr>
              <a:t>Output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9829" y="3076574"/>
            <a:ext cx="3457488" cy="125730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067473" y="3350829"/>
            <a:ext cx="342891" cy="28969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24661" y="3362324"/>
            <a:ext cx="23716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6534"/>
                </a:solidFill>
                <a:latin typeface="Montserrat"/>
              </a:rPr>
              <a:t>Employee Likely to Stay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7473" y="3819524"/>
            <a:ext cx="29622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Retention strategies may not be urgent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9829" y="4562475"/>
            <a:ext cx="3457488" cy="1447800"/>
          </a:xfrm>
          <a:prstGeom prst="roundRect">
            <a:avLst>
              <a:gd name="adj" fmla="val 15789"/>
            </a:avLst>
          </a:prstGeom>
          <a:solidFill>
            <a:srgbClr val="FEF2F2"/>
          </a:solidFill>
          <a:ln w="1651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067473" y="4937891"/>
            <a:ext cx="342891" cy="27786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24661" y="4810124"/>
            <a:ext cx="2505012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991B1B"/>
                </a:solidFill>
                <a:latin typeface="Montserrat"/>
              </a:rPr>
              <a:t>Employee Likely to Leave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7473" y="5495924"/>
            <a:ext cx="29622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4155"/>
                </a:solidFill>
                <a:latin typeface="Roboto"/>
              </a:rPr>
              <a:t>Intervention required immediately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756284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65866"/>
            <a:ext cx="342891" cy="277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2381190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81149"/>
            <a:ext cx="3505112" cy="25146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515636" y="2706369"/>
            <a:ext cx="25146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19249" y="18859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19" y="2159473"/>
            <a:ext cx="400039" cy="214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5387" y="2876549"/>
            <a:ext cx="18097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Reduces Turnover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75" y="325755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Identifies at-risk employees early for proactive retention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291" y="1581149"/>
            <a:ext cx="3505112" cy="25146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218071" y="2706369"/>
            <a:ext cx="25146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52956" y="18859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3926" y="2111706"/>
            <a:ext cx="400039" cy="3104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00499" y="2876549"/>
            <a:ext cx="227641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Supports HR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81" y="325755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Provides data-driven insights for strategic planning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6998" y="1581149"/>
            <a:ext cx="3505112" cy="25146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951778" y="2706369"/>
            <a:ext cx="25146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86662" y="18859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67633" y="2104243"/>
            <a:ext cx="400039" cy="3254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29434" y="2876549"/>
            <a:ext cx="24859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Saves Recruitment Costs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7988" y="325755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Minimizes expenses associated with hiring and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324349"/>
            <a:ext cx="5371965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1286" y="4935219"/>
            <a:ext cx="14859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90575" y="468630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545" y="4959823"/>
            <a:ext cx="400039" cy="2149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81150" y="4629150"/>
            <a:ext cx="369560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Improves Workforce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1150" y="4972050"/>
            <a:ext cx="3695607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Enables better resource allocation and succession planning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4" y="4324349"/>
            <a:ext cx="5371965" cy="148590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14937" y="468630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95907" y="4897129"/>
            <a:ext cx="400039" cy="34034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05512" y="4629150"/>
            <a:ext cx="37718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Increases Retention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5512" y="4972050"/>
            <a:ext cx="377180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Roboto"/>
              </a:rPr>
              <a:t>Helps create a more stable and experienced workforce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5995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220974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62100"/>
            <a:ext cx="7114997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265415" y="1906269"/>
            <a:ext cx="9524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6278" y="17525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1897131"/>
            <a:ext cx="266693" cy="168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5862" y="1752599"/>
            <a:ext cx="46671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Retain Talent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862" y="2057400"/>
            <a:ext cx="46671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Employee attrition prediction helps organizations retain talent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667000"/>
            <a:ext cx="7114997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65415" y="3011169"/>
            <a:ext cx="9524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6278" y="28575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525" y="2981739"/>
            <a:ext cx="266693" cy="2087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85862" y="2857500"/>
            <a:ext cx="43909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Identify At-Risk Employees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5862" y="3162299"/>
            <a:ext cx="43909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Machine learning can identify employees at risk of leaving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771900"/>
            <a:ext cx="7114997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65415" y="4116069"/>
            <a:ext cx="9524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6278" y="39623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25" y="4090987"/>
            <a:ext cx="266693" cy="2000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85862" y="3962399"/>
            <a:ext cx="52671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HR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5862" y="4267199"/>
            <a:ext cx="52671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The developed system provides valuable insights for HR departments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876800"/>
            <a:ext cx="7114997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265415" y="5220969"/>
            <a:ext cx="952499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6278" y="50672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5191539"/>
            <a:ext cx="266693" cy="20872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85862" y="5067299"/>
            <a:ext cx="37622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Data-Driven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5862" y="5372100"/>
            <a:ext cx="37622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The project supports data-driven decision making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9374" y="1771650"/>
            <a:ext cx="3552736" cy="3848099"/>
          </a:xfrm>
          <a:prstGeom prst="roundRect">
            <a:avLst>
              <a:gd name="adj" fmla="val 8579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19989" y="2238682"/>
            <a:ext cx="761980" cy="5899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10364" y="3067050"/>
            <a:ext cx="279075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156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43791" y="3676649"/>
            <a:ext cx="914377" cy="381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0364" y="4019549"/>
            <a:ext cx="2790755" cy="1219200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05652" y="4274754"/>
            <a:ext cx="342891" cy="2896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62840" y="4267199"/>
            <a:ext cx="134299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Questions?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8959" y="4743450"/>
            <a:ext cx="233356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Roboto"/>
              </a:rPr>
              <a:t>Ready to answer your queries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61432"/>
            <a:ext cx="342891" cy="28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9050"/>
            <a:ext cx="265740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752599"/>
            <a:ext cx="3505112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72736" y="2534919"/>
            <a:ext cx="1828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0575" y="2057400"/>
            <a:ext cx="495287" cy="533399"/>
          </a:xfrm>
          <a:prstGeom prst="roundRect">
            <a:avLst>
              <a:gd name="adj" fmla="val 4615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22" y="2215661"/>
            <a:ext cx="304792" cy="2168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38259" y="2057400"/>
            <a:ext cx="2171645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Web-based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75" y="274320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Deploy as a user-friendly web interface for HR professionals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291" y="1752599"/>
            <a:ext cx="3505112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60971" y="2534919"/>
            <a:ext cx="1828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24281" y="20574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579" y="2206869"/>
            <a:ext cx="304792" cy="2344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10064" y="2190749"/>
            <a:ext cx="212402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Real-time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81" y="274320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Implement live tracking of employee satisfaction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6998" y="1752599"/>
            <a:ext cx="3505112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7294678" y="2534919"/>
            <a:ext cx="1828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57988" y="2057400"/>
            <a:ext cx="514337" cy="533399"/>
          </a:xfrm>
          <a:prstGeom prst="roundRect">
            <a:avLst>
              <a:gd name="adj" fmla="val 44444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2760" y="2206869"/>
            <a:ext cx="304792" cy="23446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24721" y="2057400"/>
            <a:ext cx="2152596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Deep Learning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7988" y="274320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Explore neural networks for enhanced prediction accuracy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3809999"/>
            <a:ext cx="3505112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172736" y="4592319"/>
            <a:ext cx="1828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90575" y="41148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872" y="4264269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76358" y="4248150"/>
            <a:ext cx="14382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HR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75" y="480060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Create interactive visualization for workforce 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291" y="3809999"/>
            <a:ext cx="3505112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3560971" y="4592319"/>
            <a:ext cx="1828800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724281" y="4114800"/>
            <a:ext cx="514337" cy="533399"/>
          </a:xfrm>
          <a:prstGeom prst="roundRect">
            <a:avLst>
              <a:gd name="adj" fmla="val 44444"/>
            </a:avLst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9054" y="4254011"/>
            <a:ext cx="304792" cy="2549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391015" y="4114800"/>
            <a:ext cx="2152596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293B"/>
                </a:solidFill>
                <a:latin typeface="Montserrat"/>
              </a:rPr>
              <a:t>Automated Risk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4281" y="4800600"/>
            <a:ext cx="281932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Roboto"/>
              </a:rPr>
              <a:t>Send notifications when high-risk employees are identified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6998" y="3809999"/>
            <a:ext cx="3505112" cy="18288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2563EB"/>
              </a:gs>
              <a:gs pos="100000">
                <a:srgbClr val="1E40A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81790" y="41148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96087" y="4273061"/>
            <a:ext cx="304792" cy="2168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67573" y="4248150"/>
            <a:ext cx="187637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Cloud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1790" y="4800600"/>
            <a:ext cx="2895527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Roboto"/>
              </a:rPr>
              <a:t>Scale the solution on cloud infrastructure for enterprise 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50000">
                <a:srgbClr val="22D3EE"/>
              </a:gs>
              <a:gs pos="100000">
                <a:srgbClr val="2563E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-1"/>
            <a:ext cx="12191695" cy="694755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684</Words>
  <Application>Microsoft Office PowerPoint</Application>
  <PresentationFormat>Widescreen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Abdillahi MAhdi</dc:creator>
  <cp:keywords/>
  <dc:description>generated using python-pptx</dc:description>
  <cp:lastModifiedBy>Abdillahi MAhdi</cp:lastModifiedBy>
  <cp:revision>2</cp:revision>
  <dcterms:created xsi:type="dcterms:W3CDTF">2013-01-27T09:14:16Z</dcterms:created>
  <dcterms:modified xsi:type="dcterms:W3CDTF">2026-06-10T21:51:07Z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{"Label":"1","ContentProducer":"001191110108MA01KP2T5U00000","ProduceID":"3de470e2fbecd4053c6c22dae25855f7","ReservedCode1":"","ContentPropagator":"001191110108MA01KP2T5U00000","PropagateID":"3de470e2fbecd4053c6c22dae25855f7","ReservedCode2":""}</vt:lpwstr>
  </property>
</Properties>
</file>